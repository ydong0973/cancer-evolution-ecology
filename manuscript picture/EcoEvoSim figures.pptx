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8"/>
    <p:restoredTop sz="88707"/>
  </p:normalViewPr>
  <p:slideViewPr>
    <p:cSldViewPr snapToGrid="0">
      <p:cViewPr varScale="1">
        <p:scale>
          <a:sx n="97" d="100"/>
          <a:sy n="97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7CF81-4327-1F48-8A41-44C87C596B6B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3A3F3-ACC4-A547-B76E-9902D6B8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B759-CA37-353B-5128-FD523DCA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F7DBC-5E96-6610-976E-E4188D628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91585-24A8-18EE-B4AF-8ADC87FAD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0C67E-2C2D-DEC2-5B5C-1F78BE9AA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82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3A3F3-ACC4-A547-B76E-9902D6B803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6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Intro;</a:t>
            </a:r>
            <a:r>
              <a:rPr lang="zh-CN" altLang="en-US" dirty="0"/>
              <a:t> </a:t>
            </a:r>
            <a:r>
              <a:rPr lang="en-US" altLang="zh-CN" dirty="0"/>
              <a:t>flexible;</a:t>
            </a:r>
            <a:r>
              <a:rPr lang="zh-CN" altLang="en-US" dirty="0"/>
              <a:t> </a:t>
            </a:r>
            <a:r>
              <a:rPr lang="en-US" altLang="zh-CN" dirty="0"/>
              <a:t>include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names;</a:t>
            </a:r>
            <a:r>
              <a:rPr lang="zh-CN" altLang="en-US" dirty="0"/>
              <a:t> </a:t>
            </a:r>
            <a:endParaRPr lang="en-GB" altLang="zh-CN" dirty="0"/>
          </a:p>
          <a:p>
            <a:r>
              <a:rPr lang="en-US" altLang="zh-CN" dirty="0"/>
              <a:t>Maybe</a:t>
            </a:r>
            <a:r>
              <a:rPr lang="zh-CN" altLang="en-US" dirty="0"/>
              <a:t> </a:t>
            </a:r>
            <a:r>
              <a:rPr lang="en-US" altLang="zh-CN" dirty="0"/>
              <a:t>put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shape/color;</a:t>
            </a:r>
            <a:r>
              <a:rPr lang="zh-CN" altLang="en-US" dirty="0"/>
              <a:t> </a:t>
            </a:r>
            <a:endParaRPr lang="en-GB" altLang="zh-CN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25D5-8B5E-D9E6-5D4D-35EE4C9B9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2722A-2563-A8AB-5C93-2D36B5EF8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7B8B-8CCC-6956-A056-F5009555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7C0BD-D982-DC0A-278D-E6C115AE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60585-F1D8-9A9F-1949-5B350FC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D89F-A955-01B6-0536-8593E523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350A-E155-20CA-44D4-26C116B3B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92A6C-83DF-F911-8994-D5AB9DF8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3FA2-0C7B-793C-126C-24FB15D66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D8EB6-65A7-9E70-DED5-BC636132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9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0B74-140B-8CC9-063B-70A46A4B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A2EA4-0F89-0FE5-8F43-217ADBEEA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357EA-254D-3D41-2D3F-828CA7D8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DE1E-FF69-6F98-CF23-5E1CB0F4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561AC-A614-23CD-71D3-29D50DC3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2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3FBC-6557-FD32-8D30-D4795919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E541-A4AF-C87F-61F6-8B14A9B10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0CB9B-C247-41D6-C958-796BEAE49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74826-A15E-3B97-B148-60C87C2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86E8D-EB79-4B64-3CB9-5A2B666F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8E11F-0D38-A673-949D-9AD47F92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1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47C5-FF63-F72B-8D72-1B535C27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B3E1D-3AF4-1BCC-AF5A-673D5085D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A4F5E-661E-D8F7-378E-46FCFB407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AF32F-3E21-FC24-D6AE-1CE064329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C87FD-D043-6BDA-ED31-EE72D114F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65182-E9CF-F335-FC55-842605D2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FDE6B-B2F8-AF91-7135-AD3609FA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1AF3A-FAFC-10D7-B31B-1CBF269A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6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47DA-A91F-1C61-5F69-29864899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4AF51-C102-279B-4E62-C71FE194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E309A-B796-5154-D10E-D9D0BD0F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03104-2B57-DACD-0127-A074EB6B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C6E17-790E-134E-8053-E0ADB00F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F3090-C729-222D-2B29-EB7481D1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75DCF-B4C8-A178-4379-6FA6C8D0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8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CF6D-020C-D9CC-8758-B3CE21F5E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4667-1770-7282-A3FC-0F9D2B73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5C816-72D3-22BB-22C3-970DFE7C3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DBF78-3877-3A58-4B52-B7FE8532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48F69-A0C5-4A47-978F-8DA234FA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8F6A2-59FA-F223-A8AA-E1C0BC3E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6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773D-D000-185B-27E7-BEF9919F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08E33-8BEC-AE9E-CC35-814E283C0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CEB6E-59FA-E8B4-3DBD-FF3A3DB73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4A2A0-D252-5F7F-9231-134A9B32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E2F69-278C-4260-953C-EBF7CEA9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4C605-D0DF-66FC-6378-0BC1DD43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1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4D85-18C6-22DD-2584-22D07C66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75584-0ABA-B48D-261F-50F17C17C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86B97-D075-55DB-0B64-0030E460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DC61-B26C-F272-2B1A-E9028FE2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4315F-2B2C-8ABB-810E-E86355D3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0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1BAA0-E49A-BE25-1600-89DB2A2D3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4FA09-E69C-3040-5CFE-D5474EB4B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B164D-D652-8165-4B61-B03ACF4B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1DF3A-A01F-D73A-DC47-D6DBD13F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ECF09-FB94-D9CB-ABF8-B0922676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7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91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82F1F-9F5C-7C67-F4C9-F2262A88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F0B5-F4C5-D077-41F1-5F02F4B57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43EC5-4D79-C231-9D25-145C09DC9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61BF1-2938-454E-A775-9CA3249AA212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315C-090D-EAFF-F954-66CFE8A1B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B1F0-7BB5-518B-CE5F-4410CDEAF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B733F-5FD4-E945-975E-4427BAC21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6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 flipV="1">
            <a:off x="2012272" y="3527395"/>
            <a:ext cx="8120109" cy="1183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96000" y="1341120"/>
            <a:ext cx="0" cy="43891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7125" y="3364992"/>
            <a:ext cx="164591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Individual-based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0179728" y="3364992"/>
            <a:ext cx="17488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4876800" y="810768"/>
            <a:ext cx="2438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Phenotypic</a:t>
            </a:r>
            <a:r>
              <a:rPr lang="zh-CN" alt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4876800" y="5785104"/>
            <a:ext cx="2438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Genetic details</a:t>
            </a:r>
            <a:endParaRPr lang="en-US" sz="1867" dirty="0"/>
          </a:p>
        </p:txBody>
      </p:sp>
      <p:sp>
        <p:nvSpPr>
          <p:cNvPr id="13" name="Shape 11"/>
          <p:cNvSpPr/>
          <p:nvPr/>
        </p:nvSpPr>
        <p:spPr>
          <a:xfrm>
            <a:off x="3826989" y="2472787"/>
            <a:ext cx="1645920" cy="53644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26989" y="2472787"/>
            <a:ext cx="16459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Gillespie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3742295" y="5402418"/>
            <a:ext cx="1645920" cy="53644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3742295" y="5402418"/>
            <a:ext cx="16459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Avida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4050344" y="4645153"/>
            <a:ext cx="1645920" cy="53644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050344" y="4645153"/>
            <a:ext cx="16459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317088" y="3755137"/>
            <a:ext cx="1645920" cy="536448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4317088" y="3755137"/>
            <a:ext cx="16459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PhysiCell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495737" y="2395729"/>
            <a:ext cx="1645920" cy="755904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495737" y="2395729"/>
            <a:ext cx="164592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Klausmeier EcoEvo</a:t>
            </a:r>
            <a:endParaRPr lang="en-US" sz="1467" dirty="0"/>
          </a:p>
          <a:p>
            <a:pPr algn="ctr"/>
            <a:r>
              <a:rPr lang="en-US" altLang="zh-CN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ymbolic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8298892" y="2395729"/>
            <a:ext cx="1645920" cy="755904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98892" y="2395729"/>
            <a:ext cx="1645920" cy="755904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EcoEvoSim</a:t>
            </a:r>
            <a:endParaRPr lang="en-US" sz="1467" dirty="0"/>
          </a:p>
          <a:p>
            <a:pPr algn="ctr"/>
            <a:r>
              <a:rPr lang="en-US" altLang="zh-CN" sz="1467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67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umerical</a:t>
            </a:r>
            <a:r>
              <a:rPr lang="zh-CN" altLang="en-US" sz="1467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GB" altLang="zh-CN" sz="1467" dirty="0">
              <a:solidFill>
                <a:srgbClr val="534A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zh-CN" altLang="en-US" sz="1467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467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631E7-5A52-8A0C-0F79-4B260025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AC2CC1EE-6042-6179-B4EA-6146FCBCB636}"/>
              </a:ext>
            </a:extLst>
          </p:cNvPr>
          <p:cNvSpPr/>
          <p:nvPr/>
        </p:nvSpPr>
        <p:spPr>
          <a:xfrm flipV="1">
            <a:off x="2012272" y="3527395"/>
            <a:ext cx="8120109" cy="1183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620E516-1AC9-6DF8-5270-70342230E6EA}"/>
              </a:ext>
            </a:extLst>
          </p:cNvPr>
          <p:cNvSpPr/>
          <p:nvPr/>
        </p:nvSpPr>
        <p:spPr>
          <a:xfrm>
            <a:off x="287125" y="3364992"/>
            <a:ext cx="164591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Individual-based</a:t>
            </a:r>
            <a:endParaRPr lang="en-US" sz="1867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2F282B0-36E0-D964-4603-1222CF118C10}"/>
              </a:ext>
            </a:extLst>
          </p:cNvPr>
          <p:cNvSpPr/>
          <p:nvPr/>
        </p:nvSpPr>
        <p:spPr>
          <a:xfrm>
            <a:off x="10179728" y="3364992"/>
            <a:ext cx="174881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Population-based</a:t>
            </a:r>
            <a:endParaRPr lang="en-US" sz="1867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7D7FF92-B5C1-C692-CB60-C9A16EE3F0E3}"/>
              </a:ext>
            </a:extLst>
          </p:cNvPr>
          <p:cNvSpPr/>
          <p:nvPr/>
        </p:nvSpPr>
        <p:spPr>
          <a:xfrm>
            <a:off x="2399180" y="1668967"/>
            <a:ext cx="1897917" cy="1171504"/>
          </a:xfrm>
          <a:prstGeom prst="roundRect">
            <a:avLst>
              <a:gd name="adj" fmla="val 18182"/>
            </a:avLst>
          </a:prstGeom>
          <a:solidFill>
            <a:srgbClr val="F3F4F6"/>
          </a:solidFill>
          <a:ln w="25400">
            <a:solidFill>
              <a:srgbClr val="9CA3AF">
                <a:alpha val="69041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CCF661-25CD-2165-C6C8-27F9966D9894}"/>
              </a:ext>
            </a:extLst>
          </p:cNvPr>
          <p:cNvSpPr/>
          <p:nvPr/>
        </p:nvSpPr>
        <p:spPr>
          <a:xfrm>
            <a:off x="2272097" y="1683347"/>
            <a:ext cx="2152081" cy="118334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GB" altLang="zh-CN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Gillespie eco-evolutionary models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4CE2298-1ABE-0873-7C98-C592DD641420}"/>
              </a:ext>
            </a:extLst>
          </p:cNvPr>
          <p:cNvSpPr/>
          <p:nvPr/>
        </p:nvSpPr>
        <p:spPr>
          <a:xfrm>
            <a:off x="2399180" y="3243546"/>
            <a:ext cx="1645920" cy="1204880"/>
          </a:xfrm>
          <a:prstGeom prst="roundRect">
            <a:avLst>
              <a:gd name="adj" fmla="val 18182"/>
            </a:avLst>
          </a:prstGeom>
          <a:solidFill>
            <a:srgbClr val="F3F4F6">
              <a:alpha val="82000"/>
            </a:srgbClr>
          </a:solidFill>
          <a:ln w="25400">
            <a:solidFill>
              <a:srgbClr val="9CA3AF">
                <a:alpha val="54353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AD4328-8F36-1839-1F58-126692B43E3A}"/>
              </a:ext>
            </a:extLst>
          </p:cNvPr>
          <p:cNvSpPr/>
          <p:nvPr/>
        </p:nvSpPr>
        <p:spPr>
          <a:xfrm>
            <a:off x="2399180" y="3533672"/>
            <a:ext cx="1645920" cy="536448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2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PhysiCell</a:t>
            </a:r>
            <a:endParaRPr lang="en-US" sz="20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</a:t>
            </a:r>
          </a:p>
          <a:p>
            <a:pPr algn="ctr"/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Avida</a:t>
            </a:r>
            <a:endParaRPr lang="en-US" sz="2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3884C3-0A11-BBC6-FA83-ACD0845A156E}"/>
              </a:ext>
            </a:extLst>
          </p:cNvPr>
          <p:cNvSpPr/>
          <p:nvPr/>
        </p:nvSpPr>
        <p:spPr>
          <a:xfrm>
            <a:off x="9501189" y="1281522"/>
            <a:ext cx="1284840" cy="901453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9525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028A06-62C2-2295-9653-5482EA37E6F4}"/>
              </a:ext>
            </a:extLst>
          </p:cNvPr>
          <p:cNvSpPr/>
          <p:nvPr/>
        </p:nvSpPr>
        <p:spPr>
          <a:xfrm>
            <a:off x="9309422" y="1360209"/>
            <a:ext cx="1645920" cy="755904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Klausmeier EcoEvo</a:t>
            </a:r>
            <a:endParaRPr lang="en-US" dirty="0"/>
          </a:p>
          <a:p>
            <a:pPr algn="ctr"/>
            <a:r>
              <a:rPr lang="en-US" altLang="zh-CN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ymbolic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9497D9C-58B6-3A64-A53E-13ACB95E42C8}"/>
              </a:ext>
            </a:extLst>
          </p:cNvPr>
          <p:cNvSpPr/>
          <p:nvPr/>
        </p:nvSpPr>
        <p:spPr>
          <a:xfrm>
            <a:off x="7236782" y="1281522"/>
            <a:ext cx="1645920" cy="1055321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381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DFA033A-F795-5BF3-0804-4FD7397C92F7}"/>
              </a:ext>
            </a:extLst>
          </p:cNvPr>
          <p:cNvSpPr/>
          <p:nvPr/>
        </p:nvSpPr>
        <p:spPr>
          <a:xfrm>
            <a:off x="7176369" y="1667215"/>
            <a:ext cx="1766745" cy="316992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2400" b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EcoEvoSim</a:t>
            </a:r>
            <a:endParaRPr lang="en-US" sz="2400" dirty="0"/>
          </a:p>
          <a:p>
            <a:pPr algn="ctr"/>
            <a:r>
              <a:rPr lang="en-US" altLang="zh-CN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umerical</a:t>
            </a:r>
            <a:r>
              <a:rPr lang="zh-CN" altLang="en-US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GB" altLang="zh-CN" dirty="0">
              <a:solidFill>
                <a:srgbClr val="534A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zh-CN" altLang="en-US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</a:t>
            </a:r>
            <a:endParaRPr lang="en-US" dirty="0"/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F35D1BC1-D32A-96B0-1C16-2A52C5874158}"/>
              </a:ext>
            </a:extLst>
          </p:cNvPr>
          <p:cNvSpPr/>
          <p:nvPr/>
        </p:nvSpPr>
        <p:spPr>
          <a:xfrm>
            <a:off x="6096000" y="1341120"/>
            <a:ext cx="0" cy="43891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951B7CAB-1DB2-47C8-B929-EC3A5A5C1785}"/>
              </a:ext>
            </a:extLst>
          </p:cNvPr>
          <p:cNvSpPr/>
          <p:nvPr/>
        </p:nvSpPr>
        <p:spPr>
          <a:xfrm>
            <a:off x="4876800" y="810768"/>
            <a:ext cx="2438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Phenotypic</a:t>
            </a:r>
            <a:r>
              <a:rPr lang="zh-CN" alt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867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355E95FC-79D1-E232-1A14-9106EE145357}"/>
              </a:ext>
            </a:extLst>
          </p:cNvPr>
          <p:cNvSpPr/>
          <p:nvPr/>
        </p:nvSpPr>
        <p:spPr>
          <a:xfrm>
            <a:off x="4876800" y="5785104"/>
            <a:ext cx="2438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Genetic details</a:t>
            </a:r>
            <a:endParaRPr lang="en-US" sz="1867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9F5AAA-ED39-D543-47BD-573761C963FE}"/>
              </a:ext>
            </a:extLst>
          </p:cNvPr>
          <p:cNvCxnSpPr>
            <a:cxnSpLocks/>
          </p:cNvCxnSpPr>
          <p:nvPr/>
        </p:nvCxnSpPr>
        <p:spPr>
          <a:xfrm flipH="1">
            <a:off x="2521796" y="1090754"/>
            <a:ext cx="7183865" cy="4873282"/>
          </a:xfrm>
          <a:prstGeom prst="line">
            <a:avLst/>
          </a:prstGeom>
          <a:ln w="19050">
            <a:solidFill>
              <a:schemeClr val="accent1">
                <a:alpha val="31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64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8456-7A0E-4B01-ABF8-43FCE157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531B6D2A-5772-0FA7-7956-E9AEBDA07283}"/>
              </a:ext>
            </a:extLst>
          </p:cNvPr>
          <p:cNvSpPr/>
          <p:nvPr/>
        </p:nvSpPr>
        <p:spPr>
          <a:xfrm>
            <a:off x="163397" y="857390"/>
            <a:ext cx="11928051" cy="4685573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38AFD78F-7367-D450-79DF-E2311483CAB0}"/>
              </a:ext>
            </a:extLst>
          </p:cNvPr>
          <p:cNvSpPr/>
          <p:nvPr/>
        </p:nvSpPr>
        <p:spPr>
          <a:xfrm>
            <a:off x="10412798" y="2489637"/>
            <a:ext cx="1522039" cy="1458795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0613D1A2-4CF6-C032-EAF8-34106918E351}"/>
              </a:ext>
            </a:extLst>
          </p:cNvPr>
          <p:cNvSpPr/>
          <p:nvPr/>
        </p:nvSpPr>
        <p:spPr>
          <a:xfrm>
            <a:off x="7349913" y="1720972"/>
            <a:ext cx="2733560" cy="2864977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A677DFE-1688-B880-B252-40290954509A}"/>
              </a:ext>
            </a:extLst>
          </p:cNvPr>
          <p:cNvSpPr/>
          <p:nvPr/>
        </p:nvSpPr>
        <p:spPr>
          <a:xfrm>
            <a:off x="4875405" y="1737918"/>
            <a:ext cx="2116315" cy="2848031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8F44A7B-8C33-2127-E906-3A18BD3D4190}"/>
              </a:ext>
            </a:extLst>
          </p:cNvPr>
          <p:cNvSpPr/>
          <p:nvPr/>
        </p:nvSpPr>
        <p:spPr>
          <a:xfrm>
            <a:off x="323601" y="2500600"/>
            <a:ext cx="1616092" cy="1458795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75D27E6-9216-E5D4-B05F-1EA7339B4E88}"/>
              </a:ext>
            </a:extLst>
          </p:cNvPr>
          <p:cNvSpPr/>
          <p:nvPr/>
        </p:nvSpPr>
        <p:spPr>
          <a:xfrm>
            <a:off x="272750" y="2841976"/>
            <a:ext cx="1717791" cy="711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User-specified model</a:t>
            </a:r>
          </a:p>
          <a:p>
            <a:pPr algn="ctr"/>
            <a:r>
              <a:rPr lang="en-GB" altLang="zh-CN" sz="1467" dirty="0" err="1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Popula</a:t>
            </a:r>
            <a:r>
              <a:rPr lang="en-US" altLang="zh-CN" sz="1467" dirty="0" err="1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tionSize</a:t>
            </a:r>
            <a:r>
              <a:rPr lang="en-US" altLang="zh-CN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  <a:r>
              <a:rPr lang="zh-CN" altLang="en-US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Phenotype()</a:t>
            </a:r>
            <a:endParaRPr lang="en-US" sz="1733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2560DBA-F4A0-A947-1215-2348646089DA}"/>
              </a:ext>
            </a:extLst>
          </p:cNvPr>
          <p:cNvSpPr/>
          <p:nvPr/>
        </p:nvSpPr>
        <p:spPr>
          <a:xfrm>
            <a:off x="2290115" y="1720972"/>
            <a:ext cx="2199821" cy="2864977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F7C3C94-DE49-D65A-E587-185E94C5A052}"/>
              </a:ext>
            </a:extLst>
          </p:cNvPr>
          <p:cNvSpPr/>
          <p:nvPr/>
        </p:nvSpPr>
        <p:spPr>
          <a:xfrm>
            <a:off x="2161794" y="1577285"/>
            <a:ext cx="2459871" cy="103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733" b="1" dirty="0"/>
              <a:t>1.</a:t>
            </a:r>
            <a:r>
              <a:rPr lang="zh-CN" altLang="en-US" sz="1733" b="1" dirty="0"/>
              <a:t> </a:t>
            </a:r>
            <a:r>
              <a:rPr lang="en-US" sz="1733" b="1" dirty="0"/>
              <a:t>Integrate dynamics</a:t>
            </a:r>
          </a:p>
          <a:p>
            <a:pPr algn="ctr"/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altLang="zh-CN" sz="1467" dirty="0">
                <a:solidFill>
                  <a:schemeClr val="bg1">
                    <a:lumMod val="50000"/>
                  </a:schemeClr>
                </a:solidFill>
              </a:rPr>
              <a:t>any model class accepted</a:t>
            </a:r>
            <a:endParaRPr lang="en-US" sz="1467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23E8F4B3-B8B3-3E68-8CFC-90283910C496}"/>
              </a:ext>
            </a:extLst>
          </p:cNvPr>
          <p:cNvSpPr/>
          <p:nvPr/>
        </p:nvSpPr>
        <p:spPr>
          <a:xfrm>
            <a:off x="4822561" y="1696243"/>
            <a:ext cx="2196487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2. Introduce mutant</a:t>
            </a:r>
          </a:p>
          <a:p>
            <a:pPr algn="ctr"/>
            <a:r>
              <a:rPr lang="en-US" altLang="zh-CN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traits()</a:t>
            </a:r>
            <a:endParaRPr lang="en-US" sz="1733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7CA0A194-2583-4970-FF3E-C88F8BEF5CE1}"/>
              </a:ext>
            </a:extLst>
          </p:cNvPr>
          <p:cNvSpPr/>
          <p:nvPr/>
        </p:nvSpPr>
        <p:spPr>
          <a:xfrm>
            <a:off x="7385501" y="1708120"/>
            <a:ext cx="2644705" cy="76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3. Prune extinct</a:t>
            </a:r>
            <a:r>
              <a:rPr lang="zh-CN" altLang="en-US" sz="1733" b="1" dirty="0"/>
              <a:t> </a:t>
            </a:r>
            <a:r>
              <a:rPr lang="en-US" sz="1733" b="1" dirty="0"/>
              <a:t>phenotypes</a:t>
            </a:r>
          </a:p>
          <a:p>
            <a:pPr algn="ctr" defTabSz="1219170">
              <a:defRPr/>
            </a:pPr>
            <a:r>
              <a:rPr lang="en-US" altLang="zh-CN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lang="en-US" altLang="zh-CN" sz="1467" dirty="0" err="1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elow</a:t>
            </a:r>
            <a:r>
              <a:rPr lang="zh-CN" altLang="en-US" sz="1467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altLang="zh-CN" sz="1467" dirty="0" err="1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extThreshold</a:t>
            </a:r>
            <a:endParaRPr lang="en-US" sz="1467" dirty="0">
              <a:solidFill>
                <a:srgbClr val="E7E6E6">
                  <a:lumMod val="50000"/>
                </a:srgbClr>
              </a:solidFill>
              <a:latin typeface="Calibri" panose="020F0502020204030204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8C8CF7C8-3799-78B0-9A79-D97792958A8F}"/>
              </a:ext>
            </a:extLst>
          </p:cNvPr>
          <p:cNvSpPr/>
          <p:nvPr/>
        </p:nvSpPr>
        <p:spPr>
          <a:xfrm>
            <a:off x="10453108" y="2504413"/>
            <a:ext cx="1481728" cy="8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 err="1"/>
              <a:t>EvoHistory</a:t>
            </a:r>
            <a:endParaRPr lang="en-US" sz="1733" b="1" dirty="0"/>
          </a:p>
          <a:p>
            <a:pPr algn="ctr"/>
            <a:r>
              <a:rPr lang="en-US" altLang="zh-CN" sz="1467" dirty="0">
                <a:solidFill>
                  <a:schemeClr val="bg2">
                    <a:lumMod val="50000"/>
                  </a:schemeClr>
                </a:solidFill>
              </a:rPr>
              <a:t>h</a:t>
            </a:r>
            <a:r>
              <a:rPr lang="en-US" sz="1467" dirty="0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467" dirty="0">
                <a:solidFill>
                  <a:schemeClr val="bg2">
                    <a:lumMod val="50000"/>
                  </a:schemeClr>
                </a:solidFill>
              </a:rPr>
              <a:t>ory:[]</a:t>
            </a:r>
            <a:endParaRPr lang="en-US" sz="1467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B97FF5D-1843-E76D-5013-06FE6209E0DB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16200000" flipH="1">
            <a:off x="6053359" y="1922614"/>
            <a:ext cx="16933" cy="5326668"/>
          </a:xfrm>
          <a:prstGeom prst="bentConnector3">
            <a:avLst>
              <a:gd name="adj1" fmla="val 18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CBF1FD57-E3CE-142B-3A1A-CDA36D9C2FF8}"/>
              </a:ext>
            </a:extLst>
          </p:cNvPr>
          <p:cNvSpPr/>
          <p:nvPr/>
        </p:nvSpPr>
        <p:spPr>
          <a:xfrm>
            <a:off x="5279648" y="4856645"/>
            <a:ext cx="1659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i="1" dirty="0">
                <a:solidFill>
                  <a:srgbClr val="5F5E5A"/>
                </a:solidFill>
              </a:rPr>
              <a:t>inner</a:t>
            </a:r>
            <a:r>
              <a:rPr lang="zh-CN" altLang="en-US" sz="1200" i="1" dirty="0">
                <a:solidFill>
                  <a:srgbClr val="5F5E5A"/>
                </a:solidFill>
              </a:rPr>
              <a:t> </a:t>
            </a:r>
            <a:r>
              <a:rPr lang="en-US" altLang="zh-CN" sz="1200" i="1" dirty="0">
                <a:solidFill>
                  <a:srgbClr val="5F5E5A"/>
                </a:solidFill>
              </a:rPr>
              <a:t>loop</a:t>
            </a:r>
            <a:endParaRPr lang="en-US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72A0EDD-6B86-BDAC-B883-93B8204D9880}"/>
              </a:ext>
            </a:extLst>
          </p:cNvPr>
          <p:cNvSpPr txBox="1"/>
          <p:nvPr/>
        </p:nvSpPr>
        <p:spPr>
          <a:xfrm>
            <a:off x="7814295" y="1315594"/>
            <a:ext cx="1729256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67" i="1" dirty="0"/>
              <a:t>Evolutionary</a:t>
            </a:r>
            <a:r>
              <a:rPr lang="zh-CN" altLang="en-US" sz="1467" i="1" dirty="0"/>
              <a:t> </a:t>
            </a:r>
            <a:r>
              <a:rPr lang="en-US" altLang="zh-CN" sz="1467" i="1" dirty="0"/>
              <a:t>phase</a:t>
            </a:r>
            <a:endParaRPr lang="en-US" sz="1467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60295D1C-144B-0B59-D744-72F8D173DF28}"/>
              </a:ext>
            </a:extLst>
          </p:cNvPr>
          <p:cNvSpPr/>
          <p:nvPr/>
        </p:nvSpPr>
        <p:spPr>
          <a:xfrm>
            <a:off x="417156" y="781973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5F5E5A"/>
                </a:solidFill>
              </a:rPr>
              <a:t>outer loop — repeat for N mutation events</a:t>
            </a:r>
            <a:endParaRPr lang="en-US" sz="1333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AB07D58-2DC0-A2A4-E3D1-D7273612E11A}"/>
              </a:ext>
            </a:extLst>
          </p:cNvPr>
          <p:cNvCxnSpPr>
            <a:cxnSpLocks/>
          </p:cNvCxnSpPr>
          <p:nvPr/>
        </p:nvCxnSpPr>
        <p:spPr>
          <a:xfrm>
            <a:off x="1989535" y="3229997"/>
            <a:ext cx="2573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B34F3A2-D604-3F99-9C14-6DF666A4F69A}"/>
              </a:ext>
            </a:extLst>
          </p:cNvPr>
          <p:cNvCxnSpPr>
            <a:cxnSpLocks/>
          </p:cNvCxnSpPr>
          <p:nvPr/>
        </p:nvCxnSpPr>
        <p:spPr>
          <a:xfrm>
            <a:off x="4553227" y="3224689"/>
            <a:ext cx="2573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4CDD8D0-BE3A-9454-0C1E-50196EFADDB3}"/>
              </a:ext>
            </a:extLst>
          </p:cNvPr>
          <p:cNvCxnSpPr>
            <a:cxnSpLocks/>
          </p:cNvCxnSpPr>
          <p:nvPr/>
        </p:nvCxnSpPr>
        <p:spPr>
          <a:xfrm>
            <a:off x="7060506" y="3219035"/>
            <a:ext cx="2573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8C899BC8-7A10-C936-74FE-CAB19401A45D}"/>
              </a:ext>
            </a:extLst>
          </p:cNvPr>
          <p:cNvCxnSpPr>
            <a:cxnSpLocks/>
          </p:cNvCxnSpPr>
          <p:nvPr/>
        </p:nvCxnSpPr>
        <p:spPr>
          <a:xfrm>
            <a:off x="10130611" y="3219035"/>
            <a:ext cx="2573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11DF383E-DAE6-E033-9C64-D6FD52209DD2}"/>
              </a:ext>
            </a:extLst>
          </p:cNvPr>
          <p:cNvSpPr txBox="1"/>
          <p:nvPr/>
        </p:nvSpPr>
        <p:spPr>
          <a:xfrm>
            <a:off x="2516949" y="1312460"/>
            <a:ext cx="1566967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67" i="1" dirty="0"/>
              <a:t>Ecological</a:t>
            </a:r>
            <a:r>
              <a:rPr lang="zh-CN" altLang="en-US" sz="1467" i="1" dirty="0"/>
              <a:t> </a:t>
            </a:r>
            <a:r>
              <a:rPr lang="en-US" altLang="zh-CN" sz="1467" i="1" dirty="0"/>
              <a:t>phase</a:t>
            </a:r>
            <a:endParaRPr lang="en-US" sz="1467" i="1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546B067-09C3-A0F5-C6FE-25F449BAACEB}"/>
              </a:ext>
            </a:extLst>
          </p:cNvPr>
          <p:cNvGrpSpPr/>
          <p:nvPr/>
        </p:nvGrpSpPr>
        <p:grpSpPr>
          <a:xfrm>
            <a:off x="2687109" y="3184792"/>
            <a:ext cx="1300145" cy="795067"/>
            <a:chOff x="871880" y="1444752"/>
            <a:chExt cx="1331700" cy="761782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F7BA987-324F-A080-398C-E73AB4E0378B}"/>
                </a:ext>
              </a:extLst>
            </p:cNvPr>
            <p:cNvGrpSpPr/>
            <p:nvPr/>
          </p:nvGrpSpPr>
          <p:grpSpPr>
            <a:xfrm>
              <a:off x="1467588" y="1510043"/>
              <a:ext cx="201168" cy="201168"/>
              <a:chOff x="1225296" y="1527048"/>
              <a:chExt cx="201168" cy="201168"/>
            </a:xfrm>
          </p:grpSpPr>
          <p:sp>
            <p:nvSpPr>
              <p:cNvPr id="197" name="Shape 15">
                <a:extLst>
                  <a:ext uri="{FF2B5EF4-FFF2-40B4-BE49-F238E27FC236}">
                    <a16:creationId xmlns:a16="http://schemas.microsoft.com/office/drawing/2014/main" id="{9BD15F03-B4C8-A740-FCD9-BE8E7110D9A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8" name="Shape 16">
                <a:extLst>
                  <a:ext uri="{FF2B5EF4-FFF2-40B4-BE49-F238E27FC236}">
                    <a16:creationId xmlns:a16="http://schemas.microsoft.com/office/drawing/2014/main" id="{D2C19647-14D9-9C5C-F394-CA0D7436E13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DF35263-3316-E2EC-5864-51E307061995}"/>
                </a:ext>
              </a:extLst>
            </p:cNvPr>
            <p:cNvGrpSpPr/>
            <p:nvPr/>
          </p:nvGrpSpPr>
          <p:grpSpPr>
            <a:xfrm>
              <a:off x="1874520" y="1444752"/>
              <a:ext cx="182880" cy="182880"/>
              <a:chOff x="1874520" y="1444752"/>
              <a:chExt cx="182880" cy="182880"/>
            </a:xfrm>
          </p:grpSpPr>
          <p:sp>
            <p:nvSpPr>
              <p:cNvPr id="195" name="Shape 23">
                <a:extLst>
                  <a:ext uri="{FF2B5EF4-FFF2-40B4-BE49-F238E27FC236}">
                    <a16:creationId xmlns:a16="http://schemas.microsoft.com/office/drawing/2014/main" id="{2FC188F4-E3EB-B977-FD8E-FD0B960DF32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6" name="Shape 24">
                <a:extLst>
                  <a:ext uri="{FF2B5EF4-FFF2-40B4-BE49-F238E27FC236}">
                    <a16:creationId xmlns:a16="http://schemas.microsoft.com/office/drawing/2014/main" id="{D2BAE638-02E0-944F-0446-C4E489AEE08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822DFE3A-6B91-7EB9-A8D6-111FD5DDED43}"/>
                </a:ext>
              </a:extLst>
            </p:cNvPr>
            <p:cNvGrpSpPr/>
            <p:nvPr/>
          </p:nvGrpSpPr>
          <p:grpSpPr>
            <a:xfrm>
              <a:off x="978195" y="1975612"/>
              <a:ext cx="201168" cy="201168"/>
              <a:chOff x="1225296" y="1527048"/>
              <a:chExt cx="201168" cy="201168"/>
            </a:xfrm>
          </p:grpSpPr>
          <p:sp>
            <p:nvSpPr>
              <p:cNvPr id="193" name="Shape 15">
                <a:extLst>
                  <a:ext uri="{FF2B5EF4-FFF2-40B4-BE49-F238E27FC236}">
                    <a16:creationId xmlns:a16="http://schemas.microsoft.com/office/drawing/2014/main" id="{9BFFD452-3B67-F629-951E-75D9239CE0D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4" name="Shape 16">
                <a:extLst>
                  <a:ext uri="{FF2B5EF4-FFF2-40B4-BE49-F238E27FC236}">
                    <a16:creationId xmlns:a16="http://schemas.microsoft.com/office/drawing/2014/main" id="{71B2F20C-7CE1-9E54-48F8-071E8AAF8B9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F9757E9-AB25-6690-DE86-3ED827D341E5}"/>
                </a:ext>
              </a:extLst>
            </p:cNvPr>
            <p:cNvGrpSpPr/>
            <p:nvPr/>
          </p:nvGrpSpPr>
          <p:grpSpPr>
            <a:xfrm>
              <a:off x="871880" y="1632056"/>
              <a:ext cx="182880" cy="182880"/>
              <a:chOff x="1874520" y="1444752"/>
              <a:chExt cx="182880" cy="182880"/>
            </a:xfrm>
          </p:grpSpPr>
          <p:sp>
            <p:nvSpPr>
              <p:cNvPr id="191" name="Shape 23">
                <a:extLst>
                  <a:ext uri="{FF2B5EF4-FFF2-40B4-BE49-F238E27FC236}">
                    <a16:creationId xmlns:a16="http://schemas.microsoft.com/office/drawing/2014/main" id="{3CF5D1E6-BC75-53F0-E1C3-1110AA6288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2" name="Shape 24">
                <a:extLst>
                  <a:ext uri="{FF2B5EF4-FFF2-40B4-BE49-F238E27FC236}">
                    <a16:creationId xmlns:a16="http://schemas.microsoft.com/office/drawing/2014/main" id="{DE475FB9-AEBF-BF0D-22BD-D290E48797D9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7BB5287-5943-B122-44A5-10A426AD5EEE}"/>
                </a:ext>
              </a:extLst>
            </p:cNvPr>
            <p:cNvGrpSpPr/>
            <p:nvPr/>
          </p:nvGrpSpPr>
          <p:grpSpPr>
            <a:xfrm>
              <a:off x="1447471" y="2005366"/>
              <a:ext cx="201168" cy="201168"/>
              <a:chOff x="1225296" y="1527048"/>
              <a:chExt cx="201168" cy="201168"/>
            </a:xfrm>
          </p:grpSpPr>
          <p:sp>
            <p:nvSpPr>
              <p:cNvPr id="189" name="Shape 15">
                <a:extLst>
                  <a:ext uri="{FF2B5EF4-FFF2-40B4-BE49-F238E27FC236}">
                    <a16:creationId xmlns:a16="http://schemas.microsoft.com/office/drawing/2014/main" id="{5A6F4697-E6DA-BA00-B86B-4172AC0B1EF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90" name="Shape 16">
                <a:extLst>
                  <a:ext uri="{FF2B5EF4-FFF2-40B4-BE49-F238E27FC236}">
                    <a16:creationId xmlns:a16="http://schemas.microsoft.com/office/drawing/2014/main" id="{00425469-EAAE-36EB-D8C6-82223CF22B7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7A9A02E8-E551-ED6F-183B-B2760C3E9589}"/>
                </a:ext>
              </a:extLst>
            </p:cNvPr>
            <p:cNvGrpSpPr/>
            <p:nvPr/>
          </p:nvGrpSpPr>
          <p:grpSpPr>
            <a:xfrm>
              <a:off x="2002412" y="1913763"/>
              <a:ext cx="201168" cy="201168"/>
              <a:chOff x="1225296" y="1527048"/>
              <a:chExt cx="201168" cy="201168"/>
            </a:xfrm>
          </p:grpSpPr>
          <p:sp>
            <p:nvSpPr>
              <p:cNvPr id="187" name="Shape 15">
                <a:extLst>
                  <a:ext uri="{FF2B5EF4-FFF2-40B4-BE49-F238E27FC236}">
                    <a16:creationId xmlns:a16="http://schemas.microsoft.com/office/drawing/2014/main" id="{0E3D6681-0DDA-9D67-D6A0-B74F9A4FA48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188" name="Shape 16">
                <a:extLst>
                  <a:ext uri="{FF2B5EF4-FFF2-40B4-BE49-F238E27FC236}">
                    <a16:creationId xmlns:a16="http://schemas.microsoft.com/office/drawing/2014/main" id="{4DAAEB6D-E162-D8AB-A8DE-8232F95CC4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2C3B962-63E8-600E-DDFB-B86FADB8436D}"/>
              </a:ext>
            </a:extLst>
          </p:cNvPr>
          <p:cNvGrpSpPr/>
          <p:nvPr/>
        </p:nvGrpSpPr>
        <p:grpSpPr>
          <a:xfrm>
            <a:off x="5088690" y="2726134"/>
            <a:ext cx="2273069" cy="1345263"/>
            <a:chOff x="5512572" y="834495"/>
            <a:chExt cx="2219568" cy="1303224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DDC5F1F8-206F-67C7-D962-2CDC1EAEE680}"/>
                </a:ext>
              </a:extLst>
            </p:cNvPr>
            <p:cNvGrpSpPr/>
            <p:nvPr/>
          </p:nvGrpSpPr>
          <p:grpSpPr>
            <a:xfrm>
              <a:off x="7019838" y="1167407"/>
              <a:ext cx="179025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F1AE5994-4DC1-CE0D-CD77-E9115D0A6958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3101C30B-FDB7-AF77-E18A-F7D02C3D4DB1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BAB490D-C246-6336-D359-E170AFFA2D82}"/>
                </a:ext>
              </a:extLst>
            </p:cNvPr>
            <p:cNvSpPr txBox="1"/>
            <p:nvPr/>
          </p:nvSpPr>
          <p:spPr>
            <a:xfrm>
              <a:off x="6165693" y="834495"/>
              <a:ext cx="1566447" cy="30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67" dirty="0"/>
                <a:t>a</a:t>
              </a:r>
              <a:r>
                <a:rPr lang="zh-CN" altLang="en-US" sz="1467" dirty="0"/>
                <a:t> </a:t>
              </a:r>
              <a:r>
                <a:rPr lang="en-US" altLang="zh-CN" sz="1467" dirty="0"/>
                <a:t>new</a:t>
              </a:r>
              <a:r>
                <a:rPr lang="zh-CN" altLang="en-US" sz="1467" dirty="0"/>
                <a:t> </a:t>
              </a:r>
              <a:r>
                <a:rPr lang="en-US" altLang="zh-CN" sz="1467" dirty="0"/>
                <a:t>mutant</a:t>
              </a:r>
              <a:endParaRPr lang="en-US" sz="1467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9CD148C5-17AB-CC34-CCA3-0F6702E49D3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70" y="1200193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9C578FD7-4008-D2F6-45B3-A8036EB76E9C}"/>
                </a:ext>
              </a:extLst>
            </p:cNvPr>
            <p:cNvGrpSpPr/>
            <p:nvPr/>
          </p:nvGrpSpPr>
          <p:grpSpPr>
            <a:xfrm>
              <a:off x="6209427" y="1482458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176BA3BF-FABD-C3BC-2D98-B1548FE0B90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3364FDB0-24BE-FDD8-4718-9C1B317A28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765800D8-AAA2-12F4-4E96-9218B83591AC}"/>
                </a:ext>
              </a:extLst>
            </p:cNvPr>
            <p:cNvGrpSpPr/>
            <p:nvPr/>
          </p:nvGrpSpPr>
          <p:grpSpPr>
            <a:xfrm>
              <a:off x="6587620" y="1421814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A1AD1450-5FDA-7C1E-BAE5-C0023EA1BF6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A9A1A06B-0E01-CD55-2584-95DAC4ABE74A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93078588-A683-B090-BCE1-440873F96EFE}"/>
                </a:ext>
              </a:extLst>
            </p:cNvPr>
            <p:cNvGrpSpPr/>
            <p:nvPr/>
          </p:nvGrpSpPr>
          <p:grpSpPr>
            <a:xfrm>
              <a:off x="5754596" y="1914891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E50CBFBF-0D11-6C1C-17A7-2BCD3899617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08EF30B4-AFA2-E503-CECA-B156CA6162B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466FBA2-3AC5-7BDB-042F-EEB8B39D6F9D}"/>
                </a:ext>
              </a:extLst>
            </p:cNvPr>
            <p:cNvGrpSpPr/>
            <p:nvPr/>
          </p:nvGrpSpPr>
          <p:grpSpPr>
            <a:xfrm>
              <a:off x="5512572" y="1636036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7FD9A322-6180-C34C-5660-64656E7AA0E9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7A52ADC0-22EB-ADD3-11AE-9C84F3A8717E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9C3014CD-5EF0-2E8B-D611-4D3D6745F4C8}"/>
                </a:ext>
              </a:extLst>
            </p:cNvPr>
            <p:cNvGrpSpPr/>
            <p:nvPr/>
          </p:nvGrpSpPr>
          <p:grpSpPr>
            <a:xfrm>
              <a:off x="6291319" y="1950869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FDF2EFC0-AE8D-3DDF-F814-7AE6B362598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2650C282-EC03-9977-9E9F-6F75BFD9C44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072F60-D0E0-F03E-044A-3F8E1B6F9B77}"/>
                </a:ext>
              </a:extLst>
            </p:cNvPr>
            <p:cNvGrpSpPr/>
            <p:nvPr/>
          </p:nvGrpSpPr>
          <p:grpSpPr>
            <a:xfrm>
              <a:off x="6706480" y="1857444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2738BBE6-CA8C-96E3-D620-D63B44B79D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DB8F73C0-BF58-51BE-74C3-031696A947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0584FA94-E72E-FFEE-38EE-3A7F0B621C1B}"/>
                </a:ext>
              </a:extLst>
            </p:cNvPr>
            <p:cNvGrpSpPr/>
            <p:nvPr/>
          </p:nvGrpSpPr>
          <p:grpSpPr>
            <a:xfrm>
              <a:off x="5512572" y="1078604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D98B8C3F-9AC5-5F99-A3FE-444806F3982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E5CF6F15-03A8-A200-2F0B-068F2B184DC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F2AE0E09-7C9B-8530-A490-8C26D5BD78BF}"/>
                </a:ext>
              </a:extLst>
            </p:cNvPr>
            <p:cNvGrpSpPr/>
            <p:nvPr/>
          </p:nvGrpSpPr>
          <p:grpSpPr>
            <a:xfrm>
              <a:off x="5971477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440A8F5D-2EF1-882C-634D-66A4EFD69F4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31AC08E2-4C6A-1664-E5AC-9EA9B353B588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8F0F4605-0542-7A0D-DD73-09A6F69EEE03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A499F895-B15D-FCB9-72BC-D5042645D1B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40732566-7A11-A98D-DED8-050F93DBE3B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A54B9DA-32C5-1E7B-A211-9FA386A868FB}"/>
              </a:ext>
            </a:extLst>
          </p:cNvPr>
          <p:cNvGrpSpPr/>
          <p:nvPr/>
        </p:nvGrpSpPr>
        <p:grpSpPr>
          <a:xfrm>
            <a:off x="7742589" y="2849205"/>
            <a:ext cx="1913367" cy="1330067"/>
            <a:chOff x="753529" y="3465034"/>
            <a:chExt cx="1435025" cy="997550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D9CAD6E6-0102-C697-7D60-283E6E02A8EE}"/>
                </a:ext>
              </a:extLst>
            </p:cNvPr>
            <p:cNvGrpSpPr/>
            <p:nvPr/>
          </p:nvGrpSpPr>
          <p:grpSpPr>
            <a:xfrm>
              <a:off x="1327716" y="3972192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10C715DC-7D0A-7CBF-51F2-456C1D1F0E3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B0CE9103-B110-A0ED-F39F-FB992FAC33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DDC18F0D-8577-6461-E809-195C7124A76D}"/>
                </a:ext>
              </a:extLst>
            </p:cNvPr>
            <p:cNvGrpSpPr/>
            <p:nvPr/>
          </p:nvGrpSpPr>
          <p:grpSpPr>
            <a:xfrm>
              <a:off x="1631405" y="3926806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DB433AFB-646A-2C0A-0B19-7B8DE264079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F3C53301-7DE2-E7D4-ED00-5EDADD93DE4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EC80ED31-396C-B404-23FD-30B1D1DD2EE4}"/>
                </a:ext>
              </a:extLst>
            </p:cNvPr>
            <p:cNvGrpSpPr/>
            <p:nvPr/>
          </p:nvGrpSpPr>
          <p:grpSpPr>
            <a:xfrm>
              <a:off x="962487" y="4295822"/>
              <a:ext cx="150129" cy="139837"/>
              <a:chOff x="1225296" y="1527048"/>
              <a:chExt cx="201168" cy="201168"/>
            </a:xfrm>
          </p:grpSpPr>
          <p:sp>
            <p:nvSpPr>
              <p:cNvPr id="362" name="Shape 15">
                <a:extLst>
                  <a:ext uri="{FF2B5EF4-FFF2-40B4-BE49-F238E27FC236}">
                    <a16:creationId xmlns:a16="http://schemas.microsoft.com/office/drawing/2014/main" id="{AA9339AB-8D9D-FFE6-F507-2A9386A531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63" name="Shape 16">
                <a:extLst>
                  <a:ext uri="{FF2B5EF4-FFF2-40B4-BE49-F238E27FC236}">
                    <a16:creationId xmlns:a16="http://schemas.microsoft.com/office/drawing/2014/main" id="{B51CF8FA-118A-6D86-1312-451FA6FE236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C1E9734-CA7B-BD7F-C6F4-40CD440AB061}"/>
                </a:ext>
              </a:extLst>
            </p:cNvPr>
            <p:cNvGrpSpPr/>
            <p:nvPr/>
          </p:nvGrpSpPr>
          <p:grpSpPr>
            <a:xfrm>
              <a:off x="768142" y="4087128"/>
              <a:ext cx="136481" cy="127125"/>
              <a:chOff x="1874520" y="1444752"/>
              <a:chExt cx="182880" cy="182880"/>
            </a:xfrm>
          </p:grpSpPr>
          <p:sp>
            <p:nvSpPr>
              <p:cNvPr id="360" name="Shape 23">
                <a:extLst>
                  <a:ext uri="{FF2B5EF4-FFF2-40B4-BE49-F238E27FC236}">
                    <a16:creationId xmlns:a16="http://schemas.microsoft.com/office/drawing/2014/main" id="{7865FCFC-DA45-626A-9FDB-3309BCE9EE0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61" name="Shape 24">
                <a:extLst>
                  <a:ext uri="{FF2B5EF4-FFF2-40B4-BE49-F238E27FC236}">
                    <a16:creationId xmlns:a16="http://schemas.microsoft.com/office/drawing/2014/main" id="{99DC5AFC-C681-0AA3-809E-368D8577032C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00F60B4F-4300-856F-D498-A66E7F77B4EC}"/>
                </a:ext>
              </a:extLst>
            </p:cNvPr>
            <p:cNvGrpSpPr/>
            <p:nvPr/>
          </p:nvGrpSpPr>
          <p:grpSpPr>
            <a:xfrm>
              <a:off x="1393475" y="4322747"/>
              <a:ext cx="150129" cy="139837"/>
              <a:chOff x="1225296" y="1527048"/>
              <a:chExt cx="201168" cy="201168"/>
            </a:xfrm>
          </p:grpSpPr>
          <p:sp>
            <p:nvSpPr>
              <p:cNvPr id="358" name="Shape 15">
                <a:extLst>
                  <a:ext uri="{FF2B5EF4-FFF2-40B4-BE49-F238E27FC236}">
                    <a16:creationId xmlns:a16="http://schemas.microsoft.com/office/drawing/2014/main" id="{588C630E-9982-8514-510A-EC2B721790D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59" name="Shape 16">
                <a:extLst>
                  <a:ext uri="{FF2B5EF4-FFF2-40B4-BE49-F238E27FC236}">
                    <a16:creationId xmlns:a16="http://schemas.microsoft.com/office/drawing/2014/main" id="{7DA951B9-AE9B-089B-67B5-1F947D1A265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0838928-7892-3AAA-AE9D-6040C35905BB}"/>
                </a:ext>
              </a:extLst>
            </p:cNvPr>
            <p:cNvGrpSpPr/>
            <p:nvPr/>
          </p:nvGrpSpPr>
          <p:grpSpPr>
            <a:xfrm>
              <a:off x="1726849" y="4252829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304A3F83-7B81-A9AC-B0E8-35E75E2EDF9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CA782C46-B7AE-531C-982C-323E0CDE824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F61AF679-EB53-9B16-55F8-E213CA5376E8}"/>
                </a:ext>
              </a:extLst>
            </p:cNvPr>
            <p:cNvGrpSpPr/>
            <p:nvPr/>
          </p:nvGrpSpPr>
          <p:grpSpPr>
            <a:xfrm>
              <a:off x="1136642" y="4104105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1D5C864F-64BE-A0C1-5D45-F856D67A9D6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3FD3D180-95EF-A475-694F-90BFE5B7482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2C4D7502-F5C4-7DC9-BA60-771CD561BD4B}"/>
                </a:ext>
              </a:extLst>
            </p:cNvPr>
            <p:cNvGrpSpPr/>
            <p:nvPr/>
          </p:nvGrpSpPr>
          <p:grpSpPr>
            <a:xfrm>
              <a:off x="934509" y="3850531"/>
              <a:ext cx="150129" cy="139837"/>
              <a:chOff x="1225296" y="1527048"/>
              <a:chExt cx="201168" cy="201168"/>
            </a:xfrm>
          </p:grpSpPr>
          <p:sp>
            <p:nvSpPr>
              <p:cNvPr id="352" name="Shape 15">
                <a:extLst>
                  <a:ext uri="{FF2B5EF4-FFF2-40B4-BE49-F238E27FC236}">
                    <a16:creationId xmlns:a16="http://schemas.microsoft.com/office/drawing/2014/main" id="{640E6451-149F-254C-6E01-231D51277B7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53" name="Shape 16">
                <a:extLst>
                  <a:ext uri="{FF2B5EF4-FFF2-40B4-BE49-F238E27FC236}">
                    <a16:creationId xmlns:a16="http://schemas.microsoft.com/office/drawing/2014/main" id="{88566C66-CD8C-A430-9792-B854EBE3AEF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F2DC29C7-70C9-6CBF-7A8D-C77B5190167A}"/>
                </a:ext>
              </a:extLst>
            </p:cNvPr>
            <p:cNvGrpSpPr/>
            <p:nvPr/>
          </p:nvGrpSpPr>
          <p:grpSpPr>
            <a:xfrm>
              <a:off x="1894866" y="3892890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91A084A2-E204-FC37-6772-136F34B250B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9401A38-CA94-8CE0-2BEC-C4D85954A3B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9BF024D1-EB6F-4A14-F029-B968FFA8B501}"/>
                </a:ext>
              </a:extLst>
            </p:cNvPr>
            <p:cNvGrpSpPr/>
            <p:nvPr/>
          </p:nvGrpSpPr>
          <p:grpSpPr>
            <a:xfrm>
              <a:off x="1639004" y="3683126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0AF21DB3-7097-A290-4A9E-5895C8B81C3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E948EA77-5230-E756-5829-34D3DE4834F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A49F0A8-602F-0D8B-23E9-A5755E26A8E1}"/>
                </a:ext>
              </a:extLst>
            </p:cNvPr>
            <p:cNvGrpSpPr/>
            <p:nvPr/>
          </p:nvGrpSpPr>
          <p:grpSpPr>
            <a:xfrm>
              <a:off x="1920301" y="3648457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B06C90E0-46C5-9C06-8A47-D5CFC2D81172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05F0604-3F71-850B-615F-F0816231461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2574CE83-6FE3-1F94-6CD3-A5078917061D}"/>
                </a:ext>
              </a:extLst>
            </p:cNvPr>
            <p:cNvGrpSpPr/>
            <p:nvPr/>
          </p:nvGrpSpPr>
          <p:grpSpPr>
            <a:xfrm>
              <a:off x="1423499" y="3465034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F001F007-27E8-00B3-57DA-0D519F7C2EA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C84032-4464-1B32-3E76-8B4A7682598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1D38702-F9C7-CD28-831E-4492A8353FB1}"/>
                </a:ext>
              </a:extLst>
            </p:cNvPr>
            <p:cNvGrpSpPr/>
            <p:nvPr/>
          </p:nvGrpSpPr>
          <p:grpSpPr>
            <a:xfrm>
              <a:off x="900954" y="3625500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FFCCABB5-954C-B1D0-CF03-C1B8A2FA0AE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81E78B80-E8C1-B6EC-4D97-98BC9737C97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DDE7A4B2-31AC-5A48-FDD2-DAB9E69CF373}"/>
                </a:ext>
              </a:extLst>
            </p:cNvPr>
            <p:cNvGrpSpPr/>
            <p:nvPr/>
          </p:nvGrpSpPr>
          <p:grpSpPr>
            <a:xfrm>
              <a:off x="881333" y="3616184"/>
              <a:ext cx="162307" cy="148115"/>
              <a:chOff x="2752253" y="2670772"/>
              <a:chExt cx="218792" cy="256515"/>
            </a:xfrm>
          </p:grpSpPr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B93B0ED2-C341-DCBB-A5CE-4908B0454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0D0A6E8E-58CF-165C-7D66-2817EBBCEF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51D7ADA6-AE02-CA09-8AF4-0DF5D1434213}"/>
                </a:ext>
              </a:extLst>
            </p:cNvPr>
            <p:cNvGrpSpPr/>
            <p:nvPr/>
          </p:nvGrpSpPr>
          <p:grpSpPr>
            <a:xfrm>
              <a:off x="753529" y="4072404"/>
              <a:ext cx="162307" cy="148115"/>
              <a:chOff x="2752253" y="2670772"/>
              <a:chExt cx="218792" cy="256515"/>
            </a:xfrm>
          </p:grpSpPr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0F0C2AE6-495E-653D-CFE4-252E6AC64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D0FBEEC2-5225-4820-897D-6D4655490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E9479445-29DA-4BE6-A4C8-8D89E136DBA2}"/>
                </a:ext>
              </a:extLst>
            </p:cNvPr>
            <p:cNvGrpSpPr/>
            <p:nvPr/>
          </p:nvGrpSpPr>
          <p:grpSpPr>
            <a:xfrm>
              <a:off x="1605503" y="3910956"/>
              <a:ext cx="162307" cy="148115"/>
              <a:chOff x="2752253" y="2670772"/>
              <a:chExt cx="218792" cy="256515"/>
            </a:xfrm>
          </p:grpSpPr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CEC04705-D002-2DCE-457E-FB92A6D79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6E74411-BE77-7A36-60B2-D5E617944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23F15DCD-DB93-27DA-A2C7-845CF94E683D}"/>
                </a:ext>
              </a:extLst>
            </p:cNvPr>
            <p:cNvGrpSpPr/>
            <p:nvPr/>
          </p:nvGrpSpPr>
          <p:grpSpPr>
            <a:xfrm>
              <a:off x="1308799" y="3708205"/>
              <a:ext cx="150129" cy="139837"/>
              <a:chOff x="1225296" y="1527048"/>
              <a:chExt cx="201168" cy="201168"/>
            </a:xfrm>
          </p:grpSpPr>
          <p:sp>
            <p:nvSpPr>
              <p:cNvPr id="334" name="Shape 15">
                <a:extLst>
                  <a:ext uri="{FF2B5EF4-FFF2-40B4-BE49-F238E27FC236}">
                    <a16:creationId xmlns:a16="http://schemas.microsoft.com/office/drawing/2014/main" id="{B1485218-7B9D-6330-29F8-4961FA08FEB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35" name="Shape 16">
                <a:extLst>
                  <a:ext uri="{FF2B5EF4-FFF2-40B4-BE49-F238E27FC236}">
                    <a16:creationId xmlns:a16="http://schemas.microsoft.com/office/drawing/2014/main" id="{E9EC9B26-8389-2B7B-F55E-ED427007CF1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2B50F6E8-7306-82CA-5381-C4B70504F0CA}"/>
                </a:ext>
              </a:extLst>
            </p:cNvPr>
            <p:cNvGrpSpPr/>
            <p:nvPr/>
          </p:nvGrpSpPr>
          <p:grpSpPr>
            <a:xfrm>
              <a:off x="1476298" y="4131532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D57ED78D-4572-55AA-F518-EEA9809EFC1B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A1A31B02-3E60-2A3F-6AFC-CE7FF120DC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DBE21087-F109-E4CC-4AD1-DDFD544C3DF9}"/>
                </a:ext>
              </a:extLst>
            </p:cNvPr>
            <p:cNvGrpSpPr/>
            <p:nvPr/>
          </p:nvGrpSpPr>
          <p:grpSpPr>
            <a:xfrm>
              <a:off x="2038425" y="4077221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C9A50D87-803B-5213-92B3-906CAD9150F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sz="2400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1ABCB67B-F35E-6320-F9F9-2DF924F4BC64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593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6719"/>
            <a:ext cx="10972800" cy="6154023"/>
          </a:xfrm>
          <a:prstGeom prst="roundRect">
            <a:avLst>
              <a:gd name="adj" fmla="val 2609"/>
            </a:avLst>
          </a:prstGeom>
          <a:solidFill>
            <a:srgbClr val="F8F8F6"/>
          </a:solidFill>
          <a:ln w="12700">
            <a:solidFill>
              <a:srgbClr val="888780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42672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5F5E5A"/>
                </a:solidFill>
              </a:rPr>
              <a:t>outer loop — repeat for N mutation events</a:t>
            </a:r>
            <a:endParaRPr lang="en-US" sz="1333" dirty="0"/>
          </a:p>
        </p:txBody>
      </p:sp>
      <p:sp>
        <p:nvSpPr>
          <p:cNvPr id="4" name="Shape 2"/>
          <p:cNvSpPr/>
          <p:nvPr/>
        </p:nvSpPr>
        <p:spPr>
          <a:xfrm>
            <a:off x="3657600" y="914400"/>
            <a:ext cx="4876800" cy="792480"/>
          </a:xfrm>
          <a:prstGeom prst="roundRect">
            <a:avLst>
              <a:gd name="adj" fmla="val 12308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User-specified model 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0" y="1706880"/>
            <a:ext cx="0" cy="3657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3048000" y="2072640"/>
            <a:ext cx="6096000" cy="792480"/>
          </a:xfrm>
          <a:prstGeom prst="roundRect">
            <a:avLst>
              <a:gd name="adj" fmla="val 1230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48000" y="2072640"/>
            <a:ext cx="6096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733" b="1" dirty="0"/>
              <a:t>1.</a:t>
            </a:r>
            <a:r>
              <a:rPr lang="zh-CN" altLang="en-US" sz="1733" b="1" dirty="0"/>
              <a:t> </a:t>
            </a:r>
            <a:r>
              <a:rPr lang="en-US" sz="1733" b="1" dirty="0"/>
              <a:t>Integrate ecological dynamics</a:t>
            </a:r>
          </a:p>
          <a:p>
            <a:pPr algn="ctr"/>
            <a:r>
              <a:rPr lang="en-US" sz="1600" u="sng" dirty="0"/>
              <a:t>*</a:t>
            </a:r>
            <a:r>
              <a:rPr lang="zh-CN" altLang="en-US" sz="1600" u="sng" dirty="0"/>
              <a:t> </a:t>
            </a:r>
            <a:r>
              <a:rPr lang="en-GB" altLang="zh-CN" sz="1600" u="sng" dirty="0"/>
              <a:t>any model class accepted</a:t>
            </a:r>
            <a:endParaRPr lang="en-US" sz="1600" u="sng" dirty="0"/>
          </a:p>
        </p:txBody>
      </p:sp>
      <p:sp>
        <p:nvSpPr>
          <p:cNvPr id="9" name="Shape 7"/>
          <p:cNvSpPr/>
          <p:nvPr/>
        </p:nvSpPr>
        <p:spPr>
          <a:xfrm>
            <a:off x="6096000" y="2865120"/>
            <a:ext cx="0" cy="3657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048000" y="3230880"/>
            <a:ext cx="6096000" cy="792480"/>
          </a:xfrm>
          <a:prstGeom prst="roundRect">
            <a:avLst>
              <a:gd name="adj" fmla="val 1230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048000" y="3230880"/>
            <a:ext cx="6096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2.  </a:t>
            </a:r>
            <a:r>
              <a:rPr lang="en-US" altLang="zh-CN" sz="1733" b="1" dirty="0"/>
              <a:t>Generate</a:t>
            </a:r>
            <a:r>
              <a:rPr lang="en-US" sz="1733" b="1" dirty="0"/>
              <a:t> mutant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096000" y="4023360"/>
            <a:ext cx="0" cy="36576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3048000" y="4389120"/>
            <a:ext cx="6096000" cy="792480"/>
          </a:xfrm>
          <a:prstGeom prst="roundRect">
            <a:avLst>
              <a:gd name="adj" fmla="val 1230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3048000" y="4389120"/>
            <a:ext cx="6096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3.  Prune extinct phenotypes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3048000" y="4785360"/>
            <a:ext cx="0" cy="24384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1950720" y="5029200"/>
            <a:ext cx="109728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1950720" y="2468880"/>
            <a:ext cx="0" cy="256032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1950720" y="2468880"/>
            <a:ext cx="109728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158240" y="3413760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Inner</a:t>
            </a:r>
            <a:r>
              <a:rPr lang="zh-CN" altLang="en-US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2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loop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0" y="5181600"/>
            <a:ext cx="0" cy="36576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3901440" y="5547360"/>
            <a:ext cx="4389120" cy="755904"/>
          </a:xfrm>
          <a:prstGeom prst="roundRect">
            <a:avLst>
              <a:gd name="adj" fmla="val 12903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534AB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3901440" y="5547360"/>
            <a:ext cx="43891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/>
              <a:t>EvoHistory</a:t>
            </a:r>
            <a:endParaRPr lang="en-US" sz="17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138</Words>
  <Application>Microsoft Macintosh PowerPoint</Application>
  <PresentationFormat>Widescreen</PresentationFormat>
  <Paragraphs>56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Dong</dc:creator>
  <cp:lastModifiedBy>Yi Dong</cp:lastModifiedBy>
  <cp:revision>52</cp:revision>
  <dcterms:created xsi:type="dcterms:W3CDTF">2026-06-16T00:22:43Z</dcterms:created>
  <dcterms:modified xsi:type="dcterms:W3CDTF">2026-06-25T16:26:29Z</dcterms:modified>
</cp:coreProperties>
</file>